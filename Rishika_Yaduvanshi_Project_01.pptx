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cLKTFwcKihebFnx4_nKISwMEfBTh7WCAJ0a_r0Jgh_5V0BK2E0ubWQkmCOQX1L7WSq125Geq0UfPNDz3bdhF-Ket1iXHPo2sqQXY71raTJcXf3lmYQ4SS5x4NZxTXJ1JCWvchLutOivETI42Y4opyG82ok-AxbLoscRdbBOxxE.jpg"/>
          <p:cNvPicPr>
            <a:picLocks noChangeAspect="1"/>
          </p:cNvPicPr>
          <p:nvPr/>
        </p:nvPicPr>
        <p:blipFill>
          <a:blip r:embed="rId2"/>
          <a:srcRect l="20756" r="20756"/>
          <a:stretch>
            <a:fillRect/>
          </a:stretch>
        </p:blipFill>
        <p:spPr>
          <a:xfrm>
            <a:off x="6172200" y="0"/>
            <a:ext cx="60167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37960" cy="6858000"/>
          </a:xfrm>
          <a:prstGeom prst="rect">
            <a:avLst/>
          </a:prstGeom>
          <a:solidFill>
            <a:srgbClr val="0E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5303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FCDDC"/>
                </a:solidFill>
                <a:latin typeface="Aptos"/>
              </a:rPr>
              <a:t>INDUSTRY 4.0 •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5303520" cy="1554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8FAFD"/>
                </a:solidFill>
                <a:latin typeface="Aptos"/>
              </a:rPr>
              <a:t>AI-POWERED
SMART MANUFACTURING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1206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 dirty="0">
                <a:solidFill>
                  <a:srgbClr val="B1C0D3"/>
                </a:solidFill>
                <a:latin typeface="Aptos"/>
              </a:rPr>
              <a:t>A connected approach to machine reliability, product quality and production planning.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78808"/>
            <a:ext cx="1417320" cy="411480"/>
          </a:xfrm>
          <a:prstGeom prst="roundRect">
            <a:avLst/>
          </a:prstGeom>
          <a:solidFill>
            <a:srgbClr val="30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4251960"/>
            <a:ext cx="1362456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8FAFD"/>
                </a:solidFill>
                <a:latin typeface="Aptos"/>
              </a:rPr>
              <a:t>PREDICT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4178808"/>
            <a:ext cx="1417320" cy="411480"/>
          </a:xfrm>
          <a:prstGeom prst="roundRect">
            <a:avLst/>
          </a:prstGeom>
          <a:solidFill>
            <a:srgbClr val="21B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04872" y="4251960"/>
            <a:ext cx="1362456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8FAFD"/>
                </a:solidFill>
                <a:latin typeface="Aptos"/>
              </a:rPr>
              <a:t>INSPECT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4178808"/>
            <a:ext cx="1417320" cy="411480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50792" y="4251960"/>
            <a:ext cx="1362456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8FAFD"/>
                </a:solidFill>
                <a:latin typeface="Aptos"/>
              </a:rPr>
              <a:t>OPTIMIZE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" y="5757291"/>
            <a:ext cx="51206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 dirty="0">
                <a:solidFill>
                  <a:srgbClr val="B1C0D3"/>
                </a:solidFill>
                <a:latin typeface="Aptos"/>
              </a:rPr>
              <a:t>AI / ML • Industrial IoT • Computer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593592"/>
            <a:ext cx="521208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 dirty="0">
                <a:solidFill>
                  <a:srgbClr val="3FCDDC"/>
                </a:solidFill>
                <a:latin typeface="Aptos"/>
              </a:rPr>
              <a:t>GROUP NUMBER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92040"/>
            <a:ext cx="5303520" cy="5909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b="1" dirty="0">
                <a:solidFill>
                  <a:srgbClr val="F8FAFD"/>
                </a:solidFill>
                <a:latin typeface="Aptos"/>
              </a:rPr>
              <a:t>Presented by: </a:t>
            </a:r>
            <a:endParaRPr lang="en-US" b="1" dirty="0">
              <a:solidFill>
                <a:srgbClr val="F8FAFD"/>
              </a:solidFill>
              <a:latin typeface="Aptos"/>
            </a:endParaRPr>
          </a:p>
          <a:p>
            <a:pPr algn="l"/>
            <a:r>
              <a:rPr b="1" dirty="0">
                <a:solidFill>
                  <a:srgbClr val="F8FAFD"/>
                </a:solidFill>
                <a:latin typeface="Aptos"/>
              </a:rPr>
              <a:t>Pranav • Piyush • Prashant • Nishita • Rishika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FCDDC"/>
                </a:solidFill>
                <a:latin typeface="Aptos"/>
              </a:rPr>
              <a:t>01 • PROBLEM &amp;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Three operational problems, one AI-enabled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777240" cy="45720"/>
          </a:xfrm>
          <a:prstGeom prst="rect">
            <a:avLst/>
          </a:prstGeom>
          <a:solidFill>
            <a:srgbClr val="3F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1C0D3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74720" cy="1874519"/>
          </a:xfrm>
          <a:prstGeom prst="roundRect">
            <a:avLst/>
          </a:prstGeom>
          <a:solidFill>
            <a:srgbClr val="172A43"/>
          </a:solidFill>
          <a:ln w="15240">
            <a:solidFill>
              <a:srgbClr val="EE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54864" cy="1874519"/>
          </a:xfrm>
          <a:prstGeom prst="rect">
            <a:avLst/>
          </a:prstGeom>
          <a:solidFill>
            <a:srgbClr val="EE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31546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F8FAFD"/>
                </a:solidFill>
                <a:latin typeface="Aptos"/>
              </a:rPr>
              <a:t>Machine breakdowns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3154679" cy="5319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1C0D3"/>
                </a:solidFill>
                <a:latin typeface="Aptos"/>
              </a:defRPr>
            </a:pPr>
            <a:r>
              <a:rPr sz="1400" dirty="0"/>
              <a:t>•  Unexpected failures and downtime</a:t>
            </a:r>
          </a:p>
          <a:p>
            <a:pPr>
              <a:spcAft>
                <a:spcPts val="500"/>
              </a:spcAft>
              <a:defRPr sz="1300">
                <a:solidFill>
                  <a:srgbClr val="B1C0D3"/>
                </a:solidFill>
                <a:latin typeface="Aptos"/>
              </a:defRPr>
            </a:pPr>
            <a:r>
              <a:rPr sz="1400" dirty="0"/>
              <a:t>•  Reactive, costly maintenance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00200"/>
            <a:ext cx="3474720" cy="1874519"/>
          </a:xfrm>
          <a:prstGeom prst="roundRect">
            <a:avLst/>
          </a:prstGeom>
          <a:solidFill>
            <a:srgbClr val="172A43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61688" y="1600200"/>
            <a:ext cx="54864" cy="1874519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719072"/>
            <a:ext cx="31546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F8FAFD"/>
                </a:solidFill>
                <a:latin typeface="Aptos"/>
              </a:rPr>
              <a:t>Product defects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30552"/>
            <a:ext cx="3154679" cy="5319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1C0D3"/>
                </a:solidFill>
                <a:latin typeface="Aptos"/>
              </a:defRPr>
            </a:pPr>
            <a:r>
              <a:rPr sz="1400" dirty="0"/>
              <a:t>•  Manual inspection can miss defects</a:t>
            </a:r>
          </a:p>
          <a:p>
            <a:pPr>
              <a:spcAft>
                <a:spcPts val="500"/>
              </a:spcAft>
              <a:defRPr sz="1300">
                <a:solidFill>
                  <a:srgbClr val="B1C0D3"/>
                </a:solidFill>
                <a:latin typeface="Aptos"/>
              </a:defRPr>
            </a:pPr>
            <a:r>
              <a:rPr sz="1400" dirty="0"/>
              <a:t>•  Scrap, rework and customer returns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600200"/>
            <a:ext cx="3474720" cy="1874519"/>
          </a:xfrm>
          <a:prstGeom prst="roundRect">
            <a:avLst/>
          </a:prstGeom>
          <a:solidFill>
            <a:srgbClr val="172A43"/>
          </a:solidFill>
          <a:ln w="15240">
            <a:solidFill>
              <a:srgbClr val="308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37575" y="1600200"/>
            <a:ext cx="54864" cy="1874519"/>
          </a:xfrm>
          <a:prstGeom prst="rect">
            <a:avLst/>
          </a:prstGeom>
          <a:solidFill>
            <a:srgbClr val="30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0455" y="1719072"/>
            <a:ext cx="31546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Poor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5" y="2130552"/>
            <a:ext cx="3154679" cy="5319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1C0D3"/>
                </a:solidFill>
                <a:latin typeface="Aptos"/>
              </a:defRPr>
            </a:pPr>
            <a:r>
              <a:rPr sz="1400" dirty="0"/>
              <a:t>•  Idle machines and bottlenecks</a:t>
            </a:r>
          </a:p>
          <a:p>
            <a:pPr>
              <a:spcAft>
                <a:spcPts val="500"/>
              </a:spcAft>
              <a:defRPr sz="1300">
                <a:solidFill>
                  <a:srgbClr val="B1C0D3"/>
                </a:solidFill>
                <a:latin typeface="Aptos"/>
              </a:defRPr>
            </a:pPr>
            <a:r>
              <a:rPr sz="1400" dirty="0"/>
              <a:t>•  Material, worker and order conflicts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10515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3FCDDC"/>
                </a:solidFill>
                <a:latin typeface="Aptos"/>
              </a:rPr>
              <a:t>PROPOSED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526280"/>
            <a:ext cx="2926080" cy="731520"/>
          </a:xfrm>
          <a:prstGeom prst="roundRect">
            <a:avLst/>
          </a:prstGeom>
          <a:solidFill>
            <a:srgbClr val="30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24712" y="4709160"/>
            <a:ext cx="2779776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Sensors + cameras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23360" y="4892040"/>
            <a:ext cx="731519" cy="0"/>
          </a:xfrm>
          <a:prstGeom prst="line">
            <a:avLst/>
          </a:prstGeom>
          <a:ln w="25400">
            <a:solidFill>
              <a:srgbClr val="3F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892040" y="4526280"/>
            <a:ext cx="2926080" cy="731520"/>
          </a:xfrm>
          <a:prstGeom prst="roundRect">
            <a:avLst/>
          </a:prstGeom>
          <a:solidFill>
            <a:srgbClr val="21B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65192" y="4709160"/>
            <a:ext cx="2779776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AI / ML engine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63840" y="4892040"/>
            <a:ext cx="731519" cy="0"/>
          </a:xfrm>
          <a:prstGeom prst="line">
            <a:avLst/>
          </a:prstGeom>
          <a:ln w="25400">
            <a:solidFill>
              <a:srgbClr val="3F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732520" y="4526280"/>
            <a:ext cx="2926080" cy="731520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05672" y="4709160"/>
            <a:ext cx="2779776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Predictions +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3FCDDC"/>
                </a:solidFill>
                <a:latin typeface="Aptos"/>
              </a:rPr>
              <a:t>Outcome: less downtime • better quality • higher productivity • lower costs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FCDDC"/>
                </a:solidFill>
                <a:latin typeface="Aptos"/>
              </a:rPr>
              <a:t>02 • AI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Predictive maintenance: detect failures before they happen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777240" cy="45720"/>
          </a:xfrm>
          <a:prstGeom prst="rect">
            <a:avLst/>
          </a:prstGeom>
          <a:solidFill>
            <a:srgbClr val="3F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1C0D3"/>
                </a:solidFill>
                <a:latin typeface="Aptos"/>
              </a:rPr>
              <a:t>03</a:t>
            </a:r>
          </a:p>
        </p:txBody>
      </p:sp>
      <p:pic>
        <p:nvPicPr>
          <p:cNvPr id="6" name="Picture 5" descr="b_D-fEWbQb-bG78BmAESNvAhSREQRblwgqxZEHMzvgtHL2TtsS_IJHqlLEm6l9l2TGwMNeHmDuatPCpHxxLegqLAYz99qbhzIIZXm4rdWOvYo3_X1kS34bOVsyhG_aGgwD4HJtBaLxqkiogr2k8RHn2robrK-J7EsQYvz0WXLUg.jpg"/>
          <p:cNvPicPr>
            <a:picLocks noChangeAspect="1"/>
          </p:cNvPicPr>
          <p:nvPr/>
        </p:nvPicPr>
        <p:blipFill>
          <a:blip r:embed="rId2"/>
          <a:srcRect l="15308" r="15308"/>
          <a:stretch>
            <a:fillRect/>
          </a:stretch>
        </p:blipFill>
        <p:spPr>
          <a:xfrm>
            <a:off x="6172200" y="1554480"/>
            <a:ext cx="530352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645920"/>
            <a:ext cx="49377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 dirty="0">
                <a:solidFill>
                  <a:srgbClr val="F8FAFD"/>
                </a:solidFill>
                <a:latin typeface="Aptos"/>
              </a:rPr>
              <a:t>From reactive repair to condition-based maintenance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892040" cy="197592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B1C0D3"/>
                </a:solidFill>
                <a:latin typeface="Aptos"/>
              </a:defRPr>
            </a:pPr>
            <a:r>
              <a:rPr sz="1600" dirty="0"/>
              <a:t>•  Monitor temperature, vibration, pressure, motor current and operating hours.</a:t>
            </a:r>
          </a:p>
          <a:p>
            <a:pPr>
              <a:spcAft>
                <a:spcPts val="1200"/>
              </a:spcAft>
              <a:defRPr sz="1500">
                <a:solidFill>
                  <a:srgbClr val="B1C0D3"/>
                </a:solidFill>
                <a:latin typeface="Aptos"/>
              </a:defRPr>
            </a:pPr>
            <a:r>
              <a:rPr sz="1600" dirty="0"/>
              <a:t>•  Use anomaly detection to identify unusual machine </a:t>
            </a:r>
            <a:r>
              <a:rPr sz="1600" dirty="0" err="1"/>
              <a:t>behaviour</a:t>
            </a:r>
            <a:r>
              <a:rPr sz="1600" dirty="0"/>
              <a:t>.</a:t>
            </a:r>
          </a:p>
          <a:p>
            <a:pPr>
              <a:spcAft>
                <a:spcPts val="1200"/>
              </a:spcAft>
              <a:defRPr sz="1500">
                <a:solidFill>
                  <a:srgbClr val="B1C0D3"/>
                </a:solidFill>
                <a:latin typeface="Aptos"/>
              </a:defRPr>
            </a:pPr>
            <a:r>
              <a:rPr sz="1600" dirty="0"/>
              <a:t>•  Alert maintenance teams when failure risk rises.</a:t>
            </a:r>
          </a:p>
          <a:p>
            <a:pPr>
              <a:spcAft>
                <a:spcPts val="1200"/>
              </a:spcAft>
              <a:defRPr sz="1500">
                <a:solidFill>
                  <a:srgbClr val="B1C0D3"/>
                </a:solidFill>
                <a:latin typeface="Aptos"/>
              </a:defRPr>
            </a:pPr>
            <a:r>
              <a:rPr sz="1600" dirty="0"/>
              <a:t>•  Edge AI can support rapid, local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10332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FCDDC"/>
                </a:solidFill>
                <a:latin typeface="Aptos"/>
              </a:rPr>
              <a:t>Example: rising motor vibration triggers a service alert before a likely breakdown.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FCDDC"/>
                </a:solidFill>
                <a:latin typeface="Aptos"/>
              </a:rPr>
              <a:t>03 • AI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Computer vision: inspect products consistently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777240" cy="45720"/>
          </a:xfrm>
          <a:prstGeom prst="rect">
            <a:avLst/>
          </a:prstGeom>
          <a:solidFill>
            <a:srgbClr val="3F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1C0D3"/>
                </a:solidFill>
                <a:latin typeface="Aptos"/>
              </a:rPr>
              <a:t>04</a:t>
            </a:r>
          </a:p>
        </p:txBody>
      </p:sp>
      <p:pic>
        <p:nvPicPr>
          <p:cNvPr id="6" name="Picture 5" descr="cAkMMZNnFNNwBvcjsSrYUB8fuqsBwoGqEUa2vAvXYMv6pW0hdT_e6LX1pUsKDORIzb5viiOtpofYFpgdSDxut0oN_e2kT3r93awArSbFi-GGcNqe_FvbRhYTM4h3lM-MH-TLLtvKFAzkccnmyFqxrcOvzrS8WdI-FacqZzF8yiM.jpg"/>
          <p:cNvPicPr>
            <a:picLocks noChangeAspect="1"/>
          </p:cNvPicPr>
          <p:nvPr/>
        </p:nvPicPr>
        <p:blipFill>
          <a:blip r:embed="rId2"/>
          <a:srcRect l="4854" r="4854"/>
          <a:stretch>
            <a:fillRect/>
          </a:stretch>
        </p:blipFill>
        <p:spPr>
          <a:xfrm>
            <a:off x="685800" y="1600200"/>
            <a:ext cx="548640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2240" y="1691640"/>
            <a:ext cx="48463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AI-assisted visual inspection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331720"/>
            <a:ext cx="4709160" cy="214520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B1C0D3"/>
                </a:solidFill>
                <a:latin typeface="Aptos"/>
              </a:defRPr>
            </a:pPr>
            <a:r>
              <a:rPr sz="1600" dirty="0"/>
              <a:t>•  Cameras capture products moving along the line.</a:t>
            </a:r>
          </a:p>
          <a:p>
            <a:pPr>
              <a:spcAft>
                <a:spcPts val="1000"/>
              </a:spcAft>
              <a:defRPr sz="1400">
                <a:solidFill>
                  <a:srgbClr val="B1C0D3"/>
                </a:solidFill>
                <a:latin typeface="Aptos"/>
              </a:defRPr>
            </a:pPr>
            <a:r>
              <a:rPr sz="1600" dirty="0"/>
              <a:t>•  Supervised models learn from labelled good and defective examples.</a:t>
            </a:r>
          </a:p>
          <a:p>
            <a:pPr>
              <a:spcAft>
                <a:spcPts val="1000"/>
              </a:spcAft>
              <a:defRPr sz="1400">
                <a:solidFill>
                  <a:srgbClr val="B1C0D3"/>
                </a:solidFill>
                <a:latin typeface="Aptos"/>
              </a:defRPr>
            </a:pPr>
            <a:r>
              <a:rPr sz="1600" dirty="0"/>
              <a:t>•  CNNs detect scratches, cracks, wrong dimensions, missing parts and assembly errors.</a:t>
            </a:r>
          </a:p>
          <a:p>
            <a:pPr>
              <a:spcAft>
                <a:spcPts val="1000"/>
              </a:spcAft>
              <a:defRPr sz="1400">
                <a:solidFill>
                  <a:srgbClr val="B1C0D3"/>
                </a:solidFill>
                <a:latin typeface="Aptos"/>
              </a:defRPr>
            </a:pPr>
            <a:r>
              <a:rPr sz="1600" dirty="0"/>
              <a:t>•  Flag or reject suspect items; keep human review for uncertain cases.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5486400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FCDDC"/>
                </a:solidFill>
                <a:latin typeface="Aptos"/>
              </a:rPr>
              <a:t>Expected benefit: fewer defects escape inspection.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FCDDC"/>
                </a:solidFill>
                <a:latin typeface="Aptos"/>
              </a:rPr>
              <a:t>04 • AI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Smart production scheduling: optimize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777240" cy="45720"/>
          </a:xfrm>
          <a:prstGeom prst="rect">
            <a:avLst/>
          </a:prstGeom>
          <a:solidFill>
            <a:srgbClr val="3F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1C0D3"/>
                </a:solidFill>
                <a:latin typeface="Aptos"/>
              </a:rPr>
              <a:t>05</a:t>
            </a:r>
          </a:p>
        </p:txBody>
      </p:sp>
      <p:pic>
        <p:nvPicPr>
          <p:cNvPr id="6" name="Picture 5" descr="6b1rnrpMDyVsiOSzwmpftQzwp2OmY57ZiusmynTAttWxrSQkq8_xwuhXaKkIqbuc3-CPWpCaUMT5Kv8EJir1XOcEq6RcAHi61-9rdPYTEPvyR5s7ots5uwFJruheyqSKbCExpf17uzG4WFXsLqWHafVZpAHJRdfvX7f9k5rRaH8.jpg"/>
          <p:cNvPicPr>
            <a:picLocks noChangeAspect="1"/>
          </p:cNvPicPr>
          <p:nvPr/>
        </p:nvPicPr>
        <p:blipFill>
          <a:blip r:embed="rId2"/>
          <a:srcRect l="15018" r="15018"/>
          <a:stretch>
            <a:fillRect/>
          </a:stretch>
        </p:blipFill>
        <p:spPr>
          <a:xfrm>
            <a:off x="685800" y="1600200"/>
            <a:ext cx="557784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37960" y="1691640"/>
            <a:ext cx="47548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Plan dynamically as conditions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31720"/>
            <a:ext cx="4617720" cy="214520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B1C0D3"/>
                </a:solidFill>
                <a:latin typeface="Aptos"/>
              </a:defRPr>
            </a:pPr>
            <a:r>
              <a:rPr sz="1600" dirty="0"/>
              <a:t>•  Combine customer orders, machine availability, raw materials, workers and capacity.</a:t>
            </a:r>
          </a:p>
          <a:p>
            <a:pPr>
              <a:spcAft>
                <a:spcPts val="1000"/>
              </a:spcAft>
              <a:defRPr sz="1400">
                <a:solidFill>
                  <a:srgbClr val="B1C0D3"/>
                </a:solidFill>
                <a:latin typeface="Aptos"/>
              </a:defRPr>
            </a:pPr>
            <a:r>
              <a:rPr sz="1600" dirty="0"/>
              <a:t>•  Optimize schedules to reduce idle time and bottlenecks.</a:t>
            </a:r>
          </a:p>
          <a:p>
            <a:pPr>
              <a:spcAft>
                <a:spcPts val="1000"/>
              </a:spcAft>
              <a:defRPr sz="1400">
                <a:solidFill>
                  <a:srgbClr val="B1C0D3"/>
                </a:solidFill>
                <a:latin typeface="Aptos"/>
              </a:defRPr>
            </a:pPr>
            <a:r>
              <a:rPr sz="1600" dirty="0"/>
              <a:t>•  Shift jobs when a machine needs maintenance.</a:t>
            </a:r>
          </a:p>
          <a:p>
            <a:pPr>
              <a:spcAft>
                <a:spcPts val="1000"/>
              </a:spcAft>
              <a:defRPr sz="1400">
                <a:solidFill>
                  <a:srgbClr val="B1C0D3"/>
                </a:solidFill>
                <a:latin typeface="Aptos"/>
              </a:defRPr>
            </a:pPr>
            <a:r>
              <a:rPr sz="1600" dirty="0"/>
              <a:t>•  Methods: Hill Climbing, Simulated Annealing, State Space Search and Agentic AI.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5486400"/>
            <a:ext cx="46634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FCDDC"/>
                </a:solidFill>
                <a:latin typeface="Aptos"/>
              </a:rPr>
              <a:t>Example: move work from Machine A to Machine B during servicing.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FCDDC"/>
                </a:solidFill>
                <a:latin typeface="Aptos"/>
              </a:rPr>
              <a:t>05 • TECHNOLOGY &amp;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AI methods and industry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777240" cy="45720"/>
          </a:xfrm>
          <a:prstGeom prst="rect">
            <a:avLst/>
          </a:prstGeom>
          <a:solidFill>
            <a:srgbClr val="3F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1C0D3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520440" cy="2057400"/>
          </a:xfrm>
          <a:prstGeom prst="roundRect">
            <a:avLst/>
          </a:prstGeom>
          <a:solidFill>
            <a:srgbClr val="172A43"/>
          </a:solidFill>
          <a:ln w="15240">
            <a:solidFill>
              <a:srgbClr val="308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54864" cy="2057400"/>
          </a:xfrm>
          <a:prstGeom prst="rect">
            <a:avLst/>
          </a:prstGeom>
          <a:solidFill>
            <a:srgbClr val="30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Predictive maintenance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3200400" cy="8115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1C0D3"/>
                </a:solidFill>
                <a:latin typeface="Aptos"/>
              </a:defRPr>
            </a:pPr>
            <a:r>
              <a:rPr sz="1400" dirty="0"/>
              <a:t>•  Unsupervised anomaly detection</a:t>
            </a:r>
          </a:p>
          <a:p>
            <a:pPr>
              <a:spcAft>
                <a:spcPts val="500"/>
              </a:spcAft>
              <a:defRPr sz="1200">
                <a:solidFill>
                  <a:srgbClr val="B1C0D3"/>
                </a:solidFill>
                <a:latin typeface="Aptos"/>
              </a:defRPr>
            </a:pPr>
            <a:r>
              <a:rPr sz="1400" dirty="0"/>
              <a:t>•  Industrial IoT + Edge AI</a:t>
            </a:r>
          </a:p>
          <a:p>
            <a:pPr>
              <a:spcAft>
                <a:spcPts val="500"/>
              </a:spcAft>
              <a:defRPr sz="1200">
                <a:solidFill>
                  <a:srgbClr val="B1C0D3"/>
                </a:solidFill>
                <a:latin typeface="Aptos"/>
              </a:defRPr>
            </a:pPr>
            <a:r>
              <a:rPr sz="1400" dirty="0"/>
              <a:t>•  Fuzzy / probabilistic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2057400"/>
          </a:xfrm>
          <a:prstGeom prst="roundRect">
            <a:avLst/>
          </a:prstGeom>
          <a:solidFill>
            <a:srgbClr val="172A43"/>
          </a:solidFill>
          <a:ln w="15240">
            <a:solidFill>
              <a:srgbClr val="21B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54864" cy="2057400"/>
          </a:xfrm>
          <a:prstGeom prst="rect">
            <a:avLst/>
          </a:prstGeom>
          <a:solidFill>
            <a:srgbClr val="21B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719072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Quality inspection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30552"/>
            <a:ext cx="3200400" cy="5319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1C0D3"/>
                </a:solidFill>
                <a:latin typeface="Aptos"/>
              </a:defRPr>
            </a:pPr>
            <a:r>
              <a:rPr sz="1400" dirty="0"/>
              <a:t>•  Supervised classification</a:t>
            </a:r>
          </a:p>
          <a:p>
            <a:pPr>
              <a:spcAft>
                <a:spcPts val="500"/>
              </a:spcAft>
              <a:defRPr sz="1200">
                <a:solidFill>
                  <a:srgbClr val="B1C0D3"/>
                </a:solidFill>
                <a:latin typeface="Aptos"/>
              </a:defRPr>
            </a:pPr>
            <a:r>
              <a:rPr sz="1400" dirty="0"/>
              <a:t>•  Deep learning and CNNs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00200"/>
            <a:ext cx="3520440" cy="2057400"/>
          </a:xfrm>
          <a:prstGeom prst="roundRect">
            <a:avLst/>
          </a:prstGeom>
          <a:solidFill>
            <a:srgbClr val="172A43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600200"/>
            <a:ext cx="54864" cy="205740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1719072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Scheduling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130552"/>
            <a:ext cx="3200400" cy="5319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1C0D3"/>
                </a:solidFill>
                <a:latin typeface="Aptos"/>
              </a:defRPr>
            </a:pPr>
            <a:r>
              <a:rPr sz="1400" dirty="0"/>
              <a:t>•  Optimization algorithms</a:t>
            </a:r>
          </a:p>
          <a:p>
            <a:pPr>
              <a:spcAft>
                <a:spcPts val="500"/>
              </a:spcAft>
              <a:defRPr sz="1200">
                <a:solidFill>
                  <a:srgbClr val="B1C0D3"/>
                </a:solidFill>
                <a:latin typeface="Aptos"/>
              </a:defRPr>
            </a:pPr>
            <a:r>
              <a:rPr sz="1400" dirty="0"/>
              <a:t>•  State-space search and Agentic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77639"/>
            <a:ext cx="10515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FCDDC"/>
                </a:solidFill>
                <a:latin typeface="Aptos"/>
              </a:rPr>
              <a:t>INDUSTRY EXAMPLES REFERENCED IN THE SOURCE DOCUMENT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89120"/>
            <a:ext cx="3520440" cy="1325880"/>
          </a:xfrm>
          <a:prstGeom prst="roundRect">
            <a:avLst/>
          </a:prstGeom>
          <a:solidFill>
            <a:srgbClr val="172A43"/>
          </a:solidFill>
          <a:ln w="15240">
            <a:solidFill>
              <a:srgbClr val="308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4389120"/>
            <a:ext cx="54864" cy="1325880"/>
          </a:xfrm>
          <a:prstGeom prst="rect">
            <a:avLst/>
          </a:prstGeom>
          <a:solidFill>
            <a:srgbClr val="30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507992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Tata Steel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19472"/>
            <a:ext cx="3200400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B1C0D3"/>
                </a:solidFill>
                <a:latin typeface="Aptos"/>
              </a:defRPr>
            </a:pPr>
            <a:r>
              <a:rPr sz="1400" dirty="0"/>
              <a:t>•  Condition-based monitoring / digital twins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389120"/>
            <a:ext cx="3520440" cy="1325880"/>
          </a:xfrm>
          <a:prstGeom prst="roundRect">
            <a:avLst/>
          </a:prstGeom>
          <a:solidFill>
            <a:srgbClr val="172A43"/>
          </a:solidFill>
          <a:ln w="15240">
            <a:solidFill>
              <a:srgbClr val="21B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43400" y="4389120"/>
            <a:ext cx="54864" cy="1325880"/>
          </a:xfrm>
          <a:prstGeom prst="rect">
            <a:avLst/>
          </a:prstGeom>
          <a:solidFill>
            <a:srgbClr val="21B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80" y="4507992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Mahindra &amp; Mahindra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919472"/>
            <a:ext cx="320040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B1C0D3"/>
                </a:solidFill>
                <a:latin typeface="Aptos"/>
              </a:defRPr>
            </a:pPr>
            <a:r>
              <a:rPr sz="1400" dirty="0"/>
              <a:t>•  Vision inspection and predictive alerts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4389120"/>
            <a:ext cx="3520440" cy="1325880"/>
          </a:xfrm>
          <a:prstGeom prst="roundRect">
            <a:avLst/>
          </a:prstGeom>
          <a:solidFill>
            <a:srgbClr val="172A43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01000" y="4389120"/>
            <a:ext cx="54864" cy="132588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83879" y="4507992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Siemens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4919472"/>
            <a:ext cx="3200400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B1C0D3"/>
                </a:solidFill>
                <a:latin typeface="Aptos"/>
              </a:defRPr>
            </a:pPr>
            <a:r>
              <a:rPr sz="1400" dirty="0"/>
              <a:t>•  Industry 4.0 integration and digital twins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FCDDC"/>
                </a:solidFill>
                <a:latin typeface="Aptos"/>
              </a:rPr>
              <a:t>06 •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Measure operational improvement and financial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777240" cy="45720"/>
          </a:xfrm>
          <a:prstGeom prst="rect">
            <a:avLst/>
          </a:prstGeom>
          <a:solidFill>
            <a:srgbClr val="3F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1C0D3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0292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 dirty="0">
                <a:solidFill>
                  <a:srgbClr val="F8FAFD"/>
                </a:solidFill>
                <a:latin typeface="Aptos"/>
              </a:rPr>
              <a:t>Overall Equipment Effectiveness (OEE)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1417320" cy="640080"/>
          </a:xfrm>
          <a:prstGeom prst="roundRect">
            <a:avLst/>
          </a:prstGeom>
          <a:solidFill>
            <a:srgbClr val="30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412766"/>
            <a:ext cx="1362456" cy="2585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 dirty="0">
                <a:solidFill>
                  <a:srgbClr val="F8FAFD"/>
                </a:solidFill>
                <a:latin typeface="Aptos"/>
              </a:rPr>
              <a:t>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7712" y="23957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8FAFD"/>
                </a:solidFill>
                <a:latin typeface="Aptos"/>
              </a:rPr>
              <a:t>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2240280"/>
            <a:ext cx="1417320" cy="640080"/>
          </a:xfrm>
          <a:prstGeom prst="roundRect">
            <a:avLst/>
          </a:prstGeom>
          <a:solidFill>
            <a:srgbClr val="21B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42032" y="2412766"/>
            <a:ext cx="1362456" cy="2585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 dirty="0">
                <a:solidFill>
                  <a:srgbClr val="F8FAFD"/>
                </a:solidFill>
                <a:latin typeface="Aptos"/>
              </a:rPr>
              <a:t>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23957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8FAFD"/>
                </a:solidFill>
                <a:latin typeface="Aptos"/>
              </a:rPr>
              <a:t>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240280"/>
            <a:ext cx="1417320" cy="640080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33672" y="2412766"/>
            <a:ext cx="1362456" cy="2585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 dirty="0">
                <a:solidFill>
                  <a:srgbClr val="F8FAFD"/>
                </a:solidFill>
                <a:latin typeface="Aptos"/>
              </a:rPr>
              <a:t>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63240"/>
            <a:ext cx="49377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3FCDDC"/>
                </a:solidFill>
                <a:latin typeface="Aptos"/>
              </a:rPr>
              <a:t>OEE = Availability × Performance ×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5029200" cy="86536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B1C0D3"/>
                </a:solidFill>
                <a:latin typeface="Aptos"/>
              </a:defRPr>
            </a:pPr>
            <a:r>
              <a:rPr sz="1600" dirty="0"/>
              <a:t>•  Source targets: availability &gt;85% from a stated ~65–70% baseline.</a:t>
            </a:r>
          </a:p>
          <a:p>
            <a:pPr>
              <a:spcAft>
                <a:spcPts val="700"/>
              </a:spcAft>
              <a:defRPr sz="1300">
                <a:solidFill>
                  <a:srgbClr val="B1C0D3"/>
                </a:solidFill>
                <a:latin typeface="Aptos"/>
              </a:defRPr>
            </a:pPr>
            <a:r>
              <a:rPr sz="1600" dirty="0"/>
              <a:t>•  First-pass quality yield target: toward 98%+.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645920"/>
            <a:ext cx="5120640" cy="3566160"/>
          </a:xfrm>
          <a:prstGeom prst="roundRect">
            <a:avLst/>
          </a:prstGeom>
          <a:solidFill>
            <a:srgbClr val="172A43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1645920"/>
            <a:ext cx="54864" cy="356616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1764792"/>
            <a:ext cx="4800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ROI drivers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76272"/>
            <a:ext cx="4800600" cy="13962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B1C0D3"/>
                </a:solidFill>
                <a:latin typeface="Aptos"/>
              </a:defRPr>
            </a:pPr>
            <a:r>
              <a:rPr sz="1600" dirty="0"/>
              <a:t>•  Investment: sensors, edge hardware, software integration and staff training.</a:t>
            </a:r>
          </a:p>
          <a:p>
            <a:pPr>
              <a:spcAft>
                <a:spcPts val="500"/>
              </a:spcAft>
              <a:defRPr sz="1400">
                <a:solidFill>
                  <a:srgbClr val="B1C0D3"/>
                </a:solidFill>
                <a:latin typeface="Aptos"/>
              </a:defRPr>
            </a:pPr>
            <a:r>
              <a:rPr sz="1600" dirty="0"/>
              <a:t>•  Savings: reduced downtime, scrap/rework and emergency spare-parts costs.</a:t>
            </a:r>
          </a:p>
          <a:p>
            <a:pPr>
              <a:spcAft>
                <a:spcPts val="500"/>
              </a:spcAft>
              <a:defRPr sz="1400">
                <a:solidFill>
                  <a:srgbClr val="B1C0D3"/>
                </a:solidFill>
                <a:latin typeface="Aptos"/>
              </a:defRPr>
            </a:pPr>
            <a:r>
              <a:rPr sz="1600" dirty="0"/>
              <a:t>•  </a:t>
            </a:r>
            <a:r>
              <a:rPr lang="en-US" sz="1600" dirty="0"/>
              <a:t>The </a:t>
            </a:r>
            <a:r>
              <a:rPr sz="1600" dirty="0"/>
              <a:t>payback target: 14–22 months.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FCDDC"/>
                </a:solidFill>
                <a:latin typeface="Aptos"/>
              </a:rPr>
              <a:t>07 • IMPLEMENTATION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Deploy responsibly, prove value, then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777240" cy="45720"/>
          </a:xfrm>
          <a:prstGeom prst="rect">
            <a:avLst/>
          </a:prstGeom>
          <a:solidFill>
            <a:srgbClr val="3F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1C0D3"/>
                </a:solidFill>
                <a:latin typeface="Aptos"/>
              </a:rPr>
              <a:t>08</a:t>
            </a:r>
          </a:p>
        </p:txBody>
      </p:sp>
      <p:pic>
        <p:nvPicPr>
          <p:cNvPr id="6" name="Picture 5" descr="YqdIhY8ItdygqgOfWtv9B7eak3CGu3M3qEctqoSd4gux1vv2uhhJsXadsmtPxc8TGcsdBGc30S2QDjbBLh7DP97vafqflVD7Cie3px5quq57mSM2YiNYvKyBV-jn2JwO_-1BqqcVDMQpvJNUULCaCPUCwMByKVkXjiugKOMQe4o.jpg"/>
          <p:cNvPicPr>
            <a:picLocks noChangeAspect="1"/>
          </p:cNvPicPr>
          <p:nvPr/>
        </p:nvPicPr>
        <p:blipFill>
          <a:blip r:embed="rId2"/>
          <a:srcRect l="4062" r="4062"/>
          <a:stretch>
            <a:fillRect/>
          </a:stretch>
        </p:blipFill>
        <p:spPr>
          <a:xfrm>
            <a:off x="7726679" y="1600200"/>
            <a:ext cx="3749039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600200"/>
            <a:ext cx="649224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 dirty="0">
                <a:solidFill>
                  <a:srgbClr val="F8FAFD"/>
                </a:solidFill>
                <a:latin typeface="Aptos"/>
              </a:rPr>
              <a:t>Key implementation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6400800" cy="1421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1C0D3"/>
                </a:solidFill>
                <a:latin typeface="Aptos"/>
              </a:defRPr>
            </a:pPr>
            <a:r>
              <a:rPr sz="1600" dirty="0"/>
              <a:t>•  Legacy machines and poor data: retrofit sensors and improve data quality.</a:t>
            </a:r>
          </a:p>
          <a:p>
            <a:pPr>
              <a:spcAft>
                <a:spcPts val="600"/>
              </a:spcAft>
              <a:defRPr sz="1200">
                <a:solidFill>
                  <a:srgbClr val="B1C0D3"/>
                </a:solidFill>
                <a:latin typeface="Aptos"/>
              </a:defRPr>
            </a:pPr>
            <a:r>
              <a:rPr sz="1600" dirty="0"/>
              <a:t>•  Cybersecurity and AI errors: validate models, restrict access and retain human oversight.</a:t>
            </a:r>
          </a:p>
          <a:p>
            <a:pPr>
              <a:spcAft>
                <a:spcPts val="600"/>
              </a:spcAft>
              <a:defRPr sz="1200">
                <a:solidFill>
                  <a:srgbClr val="B1C0D3"/>
                </a:solidFill>
                <a:latin typeface="Aptos"/>
              </a:defRPr>
            </a:pPr>
            <a:r>
              <a:rPr sz="1600" dirty="0"/>
              <a:t>•  Employee resistance: start in advisory mode and train teams.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60520"/>
            <a:ext cx="1060704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3FCDDC"/>
                </a:solidFill>
                <a:latin typeface="Aptos"/>
              </a:rPr>
              <a:t>PHASED ROADMAP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572000"/>
            <a:ext cx="1828800" cy="502920"/>
          </a:xfrm>
          <a:prstGeom prst="roundRect">
            <a:avLst/>
          </a:prstGeom>
          <a:solidFill>
            <a:srgbClr val="30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665089"/>
            <a:ext cx="1737360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 dirty="0">
                <a:solidFill>
                  <a:srgbClr val="F8FAFD"/>
                </a:solidFill>
                <a:latin typeface="Aptos"/>
              </a:rPr>
              <a:t>1. Assess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4572000"/>
            <a:ext cx="1828800" cy="502920"/>
          </a:xfrm>
          <a:prstGeom prst="roundRect">
            <a:avLst/>
          </a:prstGeom>
          <a:solidFill>
            <a:srgbClr val="21B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63240" y="4665089"/>
            <a:ext cx="1737360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 dirty="0">
                <a:solidFill>
                  <a:srgbClr val="F8FAFD"/>
                </a:solidFill>
                <a:latin typeface="Aptos"/>
              </a:rPr>
              <a:t>2. 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4572000"/>
            <a:ext cx="1828800" cy="502920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0" y="4665089"/>
            <a:ext cx="1737360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 dirty="0">
                <a:solidFill>
                  <a:srgbClr val="F8FAFD"/>
                </a:solidFill>
                <a:latin typeface="Aptos"/>
              </a:rPr>
              <a:t>3. Validate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0" y="4572000"/>
            <a:ext cx="1828800" cy="502920"/>
          </a:xfrm>
          <a:prstGeom prst="roundRect">
            <a:avLst/>
          </a:prstGeom>
          <a:solidFill>
            <a:srgbClr val="EE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43800" y="4665089"/>
            <a:ext cx="1737360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 dirty="0">
                <a:solidFill>
                  <a:srgbClr val="F8FAFD"/>
                </a:solidFill>
                <a:latin typeface="Aptos"/>
              </a:rPr>
              <a:t>4. Integrate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4572000"/>
            <a:ext cx="1828800" cy="502920"/>
          </a:xfrm>
          <a:prstGeom prst="roundRect">
            <a:avLst/>
          </a:prstGeom>
          <a:solidFill>
            <a:srgbClr val="30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0" y="4665089"/>
            <a:ext cx="1737360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 dirty="0">
                <a:solidFill>
                  <a:srgbClr val="F8FAFD"/>
                </a:solidFill>
                <a:latin typeface="Aptos"/>
              </a:rPr>
              <a:t>5.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10424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KEY TAKEAWAY: connect factory data to timely action—predict failures, detect defects and optimize production.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622</Words>
  <Application>Microsoft Office PowerPoint</Application>
  <PresentationFormat>Widescreen</PresentationFormat>
  <Paragraphs>104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Smart Manufacturing — Group 6</dc:title>
  <dc:subject>Condensed AI transformation case study</dc:subject>
  <dc:creator>OpenAI</dc:creator>
  <cp:keywords/>
  <dc:description>generated using python-pptx</dc:description>
  <cp:lastModifiedBy>Piyush Choudhary</cp:lastModifiedBy>
  <cp:revision>2</cp:revision>
  <dcterms:created xsi:type="dcterms:W3CDTF">2013-01-27T09:14:16Z</dcterms:created>
  <dcterms:modified xsi:type="dcterms:W3CDTF">2026-10-17T16:50:41Z</dcterms:modified>
  <cp:category/>
</cp:coreProperties>
</file>